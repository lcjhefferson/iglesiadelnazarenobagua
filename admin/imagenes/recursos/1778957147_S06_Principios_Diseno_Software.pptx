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TORIBIO RODRÍGUEZ DE MENDOZA DE AMAZONAS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de Sistemas y Mecánica Eléctrica · Escuela Profesional de Sistemas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310896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 de software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08960" y="2743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· Acoplamiento · Abstracción · Ocultamiento de información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08960" y="3429000"/>
            <a:ext cx="36576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611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 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051SB503  ·  Ciclo V  ·  04 créditos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Didáctica 2: Diseño de Software y Arquitecturas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852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Mg. Carlos Luis Lobatón Arenas   |   Semestre 2026-I   |   06–08 de mayo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LA SESIÓN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académica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4592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6459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 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14884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051SB503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5176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6517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5468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154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65760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657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06/05/26 al 08/05/26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16052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416052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41605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UD-II: Diseño de Software y Arquitecturas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66344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466344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4663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BA308 — MI 10:00–11:40 / VI 07:30–10:00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16636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5166360"/>
            <a:ext cx="73152" cy="4114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166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0" y="5166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— Teoría 3h / Práctica 2h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semana: Cuestionario de gestión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de la sesión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1155680" cy="1188720"/>
          </a:xfrm>
          <a:prstGeom prst="rect">
            <a:avLst/>
          </a:prstGeom>
          <a:solidFill>
            <a:srgbClr val="0F4C75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83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920240" y="1783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principios de diseño de software y patrones arquitectónicos modelando soluciones con UML (clases, secuencia, componentes).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SERÁ CAPAZ DE: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021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los conceptos de cohesión y acoplamiento como métricas de calidad estructural del software.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1422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clasificar los distintos niveles de cohesión y acoplamiento en un diseño dado.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principios de abstracción y ocultamiento de información en el diseño de módulos.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4223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críticamente un diseño existente y proponer mejoras que reduzcan el acoplamiento y eleven la cohesión.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LA SESIÓN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Contenidos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611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73152" cy="19659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24048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8986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los principios de diseño preceden al código.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3611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691640"/>
            <a:ext cx="73152" cy="19659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80560" y="24048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28986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niveles y ejemplos comparativos.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691640"/>
            <a:ext cx="3611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01000" y="1691640"/>
            <a:ext cx="73152" cy="19659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24048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28986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niveles y la regla de oro del diseño.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3611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840480"/>
            <a:ext cx="73152" cy="1965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23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" y="45537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Niveles, mecanismos y ejemplos prácticos.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3840480"/>
            <a:ext cx="3611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3840480"/>
            <a:ext cx="73152" cy="19659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023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480560" y="45537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Ocultamiento de información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0560" y="504748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Parnas (1972), encapsulamiento y módulos.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01000" y="3840480"/>
            <a:ext cx="36118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01000" y="3840480"/>
            <a:ext cx="73152" cy="19659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023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229600" y="45537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caso aplicado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0" y="504748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Biblioteca · Cuestionario de gestión.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necesitamos principios de diseño?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120640" cy="4526280"/>
          </a:xfrm>
          <a:prstGeom prst="rect">
            <a:avLst/>
          </a:prstGeom>
          <a:solidFill>
            <a:srgbClr val="0F4C75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91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tonto puede escribir código que una computadora entienda. Los buenos programadores escriben código que los humanos pueden entender.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Martin Fowler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5852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691640"/>
            <a:ext cx="73152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01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del costo del software es mantenimiento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debe facilitar el cambio, no resistirlo.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852928"/>
            <a:ext cx="5852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2852928"/>
            <a:ext cx="73152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9626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se lee 10 veces más de lo que se escribe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3558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claridad estructural es una inversión, no un gasto.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4014216"/>
            <a:ext cx="5852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4014216"/>
            <a:ext cx="73152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1239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mal diseño se paga con interés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45171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deuda técnica: pequeñas concesiones que se acumulan.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5175504"/>
            <a:ext cx="58521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2160" y="5175504"/>
            <a:ext cx="73152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52852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anteceden a los patrones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56784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cohesión, acoplamiento y abstracción, ningún patrón salva al sistema.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no es diseñar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resuelve un problema puntual. Diseñar resuelve el problema de cómo cambiará ese problema mañana.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7607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194560"/>
            <a:ext cx="73152" cy="4023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PRINCIPIOS DE DISEÑO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una función obliga a tocar diez archivos.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qué hace un módulo sin leer todo el código.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bugs reaparecen porque la lógica está duplicada.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una unidad requiere levantar todo el sistema.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del sistema vive solo en una persona.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7607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94560"/>
            <a:ext cx="73152" cy="40233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PRINCIPIOS DE DISEÑO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78892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tiene una responsabilidad clara.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 detalle interno no rompe a sus clientes.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 reutilizable porque está bien delimitado.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unidades se prueban de forma aislada.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del sistema vive en su estructura.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principios fundamentales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diseño se sostiene sobre cuatro pilares interdependientes. Ninguno funciona aislado.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148840"/>
            <a:ext cx="73152" cy="41148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INTRA-módulo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548640" cy="0"/>
          </a:xfrm>
          <a:prstGeom prst="line">
            <a:avLst/>
          </a:prstGeom>
          <a:noFill/>
          <a:ln w="25400">
            <a:solidFill>
              <a:srgbClr val="0F4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891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unidos están los elementos dentro de un módulo. Mide foco y propósito único.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10712" y="21488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0712" y="2148840"/>
            <a:ext cx="73152" cy="4114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3593592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93592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INTER-módulos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93592" y="4160520"/>
            <a:ext cx="548640" cy="0"/>
          </a:xfrm>
          <a:prstGeom prst="line">
            <a:avLst/>
          </a:prstGeom>
          <a:noFill/>
          <a:ln w="25400">
            <a:solidFill>
              <a:srgbClr val="3282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43891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dependientes son los módulos entre sí. Mide independencia y aislamiento.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18504" y="21488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18504" y="2148840"/>
            <a:ext cx="73152" cy="4114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6501384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01384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vs CÓMO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01384" y="4160520"/>
            <a:ext cx="548640" cy="0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1384" y="43891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exponer la esencia y suprimir el detalle. Mide simplicidad conceptual.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26296" y="2148840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26296" y="2148840"/>
            <a:ext cx="73152" cy="4114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09176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9409176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OCULTAMIENTO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409176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09176" y="4160520"/>
            <a:ext cx="54864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09176" y="43891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susceptibles de cambio se encapsulan tras una interfaz estable.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COHESIÓN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naturaleza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4526280"/>
          </a:xfrm>
          <a:prstGeom prst="rect">
            <a:avLst/>
          </a:prstGeom>
          <a:solidFill>
            <a:srgbClr val="0F4C75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grado en que los elementos de un módulo pertenecen lógicamente juntos.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10972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cohesivo hace una sola cosa, la hace completa, y la hace bien.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más unida esté la responsabilidad, más fácil será nombrar el módulo en una sola frase.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91640"/>
            <a:ext cx="73152" cy="10515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8013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INTRA-modular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67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unión dentro de un mismo módulo / clase.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852928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852928"/>
            <a:ext cx="73152" cy="10515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962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328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por tipos, no por una fórmula única.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4014216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4014216"/>
            <a:ext cx="73152" cy="10515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239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Deseable: ALTA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489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alta, mejor: foco y responsabilidad única.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5175504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5175504"/>
            <a:ext cx="73152" cy="10515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2852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clave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56509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para describir un módulo se usa la conjunción 'y', probablemente baja.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COHESIÓN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cohesión — de la peor a la mejor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Constantine y Yourdon (1979) identificaron siete tipos. Se leen de abajo hacia arriba: la cohesión funcional es el ideal.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155680" cy="3657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587752"/>
            <a:ext cx="320040" cy="3200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68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4688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elementos contribuyen a UNA sola tarea bien definida.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2606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35808"/>
            <a:ext cx="111556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154680"/>
            <a:ext cx="320040" cy="3200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0358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303580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de un elemento es la entrada del siguiente (pipeline interno).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31729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3172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BUENA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602736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721608"/>
            <a:ext cx="320040" cy="32004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6027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60273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operan sobre los MISMOS datos.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0" y="37398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3739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169664"/>
            <a:ext cx="111556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288536"/>
            <a:ext cx="320040" cy="32004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288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88720" y="41696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0" y="416966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ejecutados en una secuencia, pero sobre datos distintos.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58400" y="430682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4306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4736592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4855464"/>
            <a:ext cx="320040" cy="3200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855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8720" y="47365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0" y="473659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agrupados porque se ejecutan en el MISMO instante (p. ej. init).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58400" y="48737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4873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5303520"/>
            <a:ext cx="11155680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" y="5422392"/>
            <a:ext cx="320040" cy="3200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422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88720" y="5303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57600" y="53035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similares agrupadas; el cliente elige cuál con un parámetro.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58400" y="5440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0" y="5440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" y="5870448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" y="5989320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5989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188720" y="5870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Coincidental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657600" y="587044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no tienen relación significativa entre sí.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058400" y="6007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58400" y="6007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PÉSIMA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COHESIÓN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práctica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5778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73152" cy="4526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COHESIÓN COINCIDENTAL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212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Utilidades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validarCorreo(s: String)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calcularIGV(monto: Double)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imprimirFactura(f: Factura)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enviarSMS(numero: String)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formatearFecha(d: Date)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conectarBD(): Connection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937760"/>
            <a:ext cx="521208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está mal?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5303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agrupa funciones sin relación. Cualquier cambio (impuestos, formato, SMS) la afecta. Es un cajón de sastre.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COHESIÓN FUNCIONAL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2128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CalculadoraImpuestos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6517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calcularIGV(monto: Double)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calcularRetencion(m: Double)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calcularPercepcion(m: Double)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aplicarDescuento(m, %)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redondear(monto: Double)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937760"/>
            <a:ext cx="521208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está bien?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5303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métodos giran en torno a un solo concepto: cálculo de impuestos. Se nombra en una frase.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COHESIÓN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evaluarla en la práctica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pruebas rápidas para diagnosticar la cohesión de una clase o módulo.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55778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148840"/>
            <a:ext cx="73152" cy="18745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23160"/>
            <a:ext cx="640080" cy="6400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del nombre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8346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necesitas la conjunción 'y' para describir lo que hace el módulo, probablemente tenga baja cohesión.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55778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148840"/>
            <a:ext cx="73152" cy="187452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423160"/>
            <a:ext cx="640080" cy="64008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la responsabilidad única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28346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una sola razón por la que el módulo podría cambiar. Si hay más de una, la cohesión es baja.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206240"/>
            <a:ext cx="55778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206240"/>
            <a:ext cx="73152" cy="18745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del usuario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único tipo de cliente o caso de uso que necesite todos los métodos? Si no, conviene dividir.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55778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206240"/>
            <a:ext cx="73152" cy="1874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4480560"/>
            <a:ext cx="640080" cy="6400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la métrica LCOM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4892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Cohesion in Methods: cuenta pares de métodos que no comparten atributos. Valores altos = baja cohesión.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dudas, divide. Es más barato unir dos módulos cohesivos que separar uno desorganizado.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ACOPLAMIENTO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naturaleza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4526280"/>
          </a:xfrm>
          <a:prstGeom prst="rect">
            <a:avLst/>
          </a:prstGeom>
          <a:solidFill>
            <a:srgbClr val="3282B8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grado de dependencia entre módulos: cuánto un módulo necesita conocer de otro para funcionar.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069080"/>
            <a:ext cx="10972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con acoplamiento bajo se modifica como se mueve una pieza de Lego: encaja y suelta sin romper lo demás.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más conexiones entre módulos, más caro será cambiar uno sin afectar a los otros.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91640"/>
            <a:ext cx="73152" cy="10515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8013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INTER-modular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671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dependencias entre dos o más módulos.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852928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852928"/>
            <a:ext cx="73152" cy="10515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962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328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número y tipo de conexiones (fan-in / fan-out).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4014216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4014216"/>
            <a:ext cx="73152" cy="10515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239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Deseable: BAJO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489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bajo, mayor independencia y reutilización.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5175504"/>
            <a:ext cx="5532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5175504"/>
            <a:ext cx="73152" cy="10515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2852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clave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56509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A obliga a modificar B, C y D: hay acoplamiento alto.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ACOPLAMIENTO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acoplamiento — del peor al mejor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Stevens, Myers y Constantine (1974) identificaron seis tipos. El ideal es el acoplamiento por datos.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155680" cy="3657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031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0" y="2103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51760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68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contenido (patológico)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246888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modifica datos internos de otro. Rompe encapsulamiento.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651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PÉSIMO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27248"/>
            <a:ext cx="11155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310128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1272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0" y="312724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módulos comparten variables globales modificables.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0" y="331012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MALO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785616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68496"/>
            <a:ext cx="320040" cy="3200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68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78561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14800" y="378561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 formato externo (archivo, protocolo, dispositivo).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0" y="39684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3968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443984"/>
            <a:ext cx="11155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4626864"/>
            <a:ext cx="320040" cy="3200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626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88720" y="44439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44439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 pasa una bandera que dicta el comportamiento del otro.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58400" y="462686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0" y="4626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102352"/>
            <a:ext cx="11155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5285232"/>
            <a:ext cx="320040" cy="32004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285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8720" y="5102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estampado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114800" y="51023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pasa una estructura completa cuando solo se necesitaban algunos campos.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58400" y="528523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0" y="5285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5760720"/>
            <a:ext cx="11155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" y="5943600"/>
            <a:ext cx="320040" cy="3200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943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88720" y="5760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114800" y="576072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pasan los datos estrictamente necesarios mediante parámetros.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58400" y="59436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0" y="5943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ACOPLAMIENTO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práctica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5778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73152" cy="4526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ACOPLAMIENTO ALTO (común)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ivu = 18;  // variable global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Factura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calcular()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 * ivu / 100;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total() { return total * ivu;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5120640"/>
            <a:ext cx="521208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212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IGV, hay que rastrear todos los módulos que la usan. Variable global = acoplamiento común.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ACOPLAMIENTO BAJO (de datos)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Factura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calcular(base, tasa)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 * tasa / 100;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total(monto, tasa)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monto * tasa;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5120640"/>
            <a:ext cx="521208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5212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5486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entra como parámetro. Cada módulo es independiente, testeable y reutilizable.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 DEL DISEÑO MODULAR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(intra-módulo)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766560" y="1463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7665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(inter-módulos)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106424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Software MANTENIBLE, REUTILIZABLE y EVOLUTIVO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3657600" cy="210312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6400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54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se localizan en un módulo, no se propagan.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62272" y="3931920"/>
            <a:ext cx="3657600" cy="210312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45152" y="4617720"/>
            <a:ext cx="6400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4754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independientes se reutilizan en otros sistemas.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84464" y="3931920"/>
            <a:ext cx="3657600" cy="210312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TESTEABLE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67344" y="4617720"/>
            <a:ext cx="6400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7344" y="4754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se prueba aislada, sin levantar el sistema.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ABSTRACCIÓN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propósito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4526280"/>
          </a:xfrm>
          <a:prstGeom prst="rect">
            <a:avLst/>
          </a:prstGeom>
          <a:solidFill>
            <a:srgbClr val="16A085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proceso de identificar lo esencial de un concepto y suprimir lo irrelevante.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069080"/>
            <a:ext cx="109728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enfoca en el QUÉ hace un componente, no en el CÓMO lo hace.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abstracción permite razonar sobre sistemas complejos sin ahogarse en los detalles de implementación.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EL VOLANTE DE UN AUTO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conducir solo necesitas saber: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16A085"/>
                </a:solidFill>
              </a:rPr>
              <a:t>Girar a la derecha → derecha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16A085"/>
                </a:solidFill>
              </a:rPr>
              <a:t>Girar a la izquierda → izquierda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16A085"/>
                </a:solidFill>
              </a:rPr>
              <a:t>Soltar → vuelve al centro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saber: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297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5B6B79"/>
                </a:solidFill>
              </a:rPr>
              <a:t>Cómo funciona la cremallera de dirección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5B6B79"/>
                </a:solidFill>
              </a:rPr>
              <a:t>Qué tipo de aceite usa la servodirección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5B6B79"/>
                </a:solidFill>
              </a:rPr>
              <a:t>Si la asistencia es hidráulica o eléctrica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5532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es abstracción: una interfaz simple que oculta una mecánica compleja.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ABSTRACCIÓN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en software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7033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73152" cy="19659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oculta un algoritmo: ordenar(lista), calcularImpuesto(monto).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0832" y="1691640"/>
            <a:ext cx="37033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1691640"/>
            <a:ext cx="73152" cy="19659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1965960"/>
            <a:ext cx="502920" cy="50292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9512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2560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TDA / clase oculta una estructura: Pila, Cola, ArbolBinario.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38744" y="1691640"/>
            <a:ext cx="37033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8744" y="1691640"/>
            <a:ext cx="73152" cy="19659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7344" y="1965960"/>
            <a:ext cx="502920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734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07424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67344" y="2560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mecanismo oculta el flujo: bucles, iteradores, callbacks, async/await.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822192"/>
            <a:ext cx="37033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822192"/>
            <a:ext cx="73152" cy="1965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096512"/>
            <a:ext cx="50292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iteración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" y="469087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iterador permite recorrer sin conocer la estructura: for-each, generators.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70832" y="3822192"/>
            <a:ext cx="37033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70832" y="3822192"/>
            <a:ext cx="73152" cy="19659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9432" y="4096512"/>
            <a:ext cx="502920" cy="50292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9512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interfaz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99432" y="469087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define un contrato; las implementaciones cambian sin afectar al cliente.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38744" y="3822192"/>
            <a:ext cx="37033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38744" y="3822192"/>
            <a:ext cx="73152" cy="196596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67344" y="4096512"/>
            <a:ext cx="502920" cy="50292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7344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07424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Polimórfica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67344" y="469087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mensaje, comportamientos distintos según el tipo concreto (área() en Círculo/Cuadrado).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61264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sube en la escalera de abstracción y baja el costo cognitivo de leer el sistema.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ABSTRACCIÓN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interfaz Notificador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65760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73152" cy="45262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ABSTRACCIÓN (el QUÉ)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Notificador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enviar(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destino: String,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mensaje: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): boolean;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9377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operación. Cualquier cliente sabe qué pedir, sin importar cómo se ejecuta.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828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IMPLEMENTACIONES (el CÓMO)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2286000"/>
            <a:ext cx="7223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286000"/>
            <a:ext cx="73152" cy="10515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2788920"/>
            <a:ext cx="274320" cy="0"/>
          </a:xfrm>
          <a:prstGeom prst="line">
            <a:avLst/>
          </a:prstGeom>
          <a:noFill/>
          <a:ln w="25400">
            <a:solidFill>
              <a:srgbClr val="0F4C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3957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NotificadorSMS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la API de Twilio.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3520440"/>
            <a:ext cx="7223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3520440"/>
            <a:ext cx="73152" cy="10515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4023360"/>
            <a:ext cx="274320" cy="0"/>
          </a:xfrm>
          <a:prstGeom prst="line">
            <a:avLst/>
          </a:prstGeom>
          <a:noFill/>
          <a:ln w="25400">
            <a:solidFill>
              <a:srgbClr val="0F4C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6301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NotificadorEmail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SMTP con autenticación.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4754880"/>
            <a:ext cx="72237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4754880"/>
            <a:ext cx="73152" cy="10515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5257800"/>
            <a:ext cx="274320" cy="0"/>
          </a:xfrm>
          <a:prstGeom prst="line">
            <a:avLst/>
          </a:prstGeom>
          <a:noFill/>
          <a:ln w="25400">
            <a:solidFill>
              <a:srgbClr val="0F4C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8646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NotificadorWhatsApp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5303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WhatsApp Business.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6126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WhatsApp por Telegram NO afecta al sistema: la abstracción es estable, el detalle es reemplazable.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OCULTAMIENTO DE INFORMACIÓN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 · Parnas (1972)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155680" cy="1463040"/>
          </a:xfrm>
          <a:prstGeom prst="rect">
            <a:avLst/>
          </a:prstGeom>
          <a:solidFill>
            <a:srgbClr val="0F4C75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7373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debe ocultar una decisión de diseño que probablemente cambie. Los demás módulos no deben enterarse de ese cambio.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David L. Parnas, 1972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55778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291840"/>
            <a:ext cx="73152" cy="292608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las decisiones susceptibles de cambio en tu sistema (formato de datos, algoritmo, proveedor, base de datos, protocolo) y encapsula cada una dentro de un módulo. Lo que el módulo expone (su interfaz) es lo único que ven sus clientes.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3291840"/>
            <a:ext cx="73152" cy="29260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7947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quedan confinados a un módulo.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pública es un contrato estable.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puede trabajar en paralelo sobre distintos módulos.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reduce el efecto dominó ante un cambio.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teórica del encapsulamiento en OOP.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OCULTAMIENTO DE INFORMACIÓN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¿Encapsulamiento o ocultamiento? — Distinción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términos a menudo se confunden, pero operan en planos distintos.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5778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103120"/>
            <a:ext cx="73152" cy="4114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del lenguaje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Agrupa datos + comportamiento en una unidad (clase).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Restringe el acceso con modificadores: private, protected, public.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Es una técnica sintáctica.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Lo aplica el lenguaje en tiempo de compilación.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Ejemplo: declarar un atributo como private.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55321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103120"/>
            <a:ext cx="73152" cy="4114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OCULTAMIENTO DE INFORMACIÓN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670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diseño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0632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Decide QUÉ información debe ser ocultada.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Selecciona las decisiones que podrían cambiar.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Es una técnica conceptual y arquitectónica.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Lo aplica el diseñador en tiempo de modelado.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B262C"/>
                </a:solidFill>
              </a:rPr>
              <a:t>Ejemplo: decidir que el tipo de BD sea reemplazable.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mnemotécnica: el encapsulamiento es el CÓMO técnico; el ocultamiento es el QUÉ esconder.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OCULTAMIENTO DE INFORMACIÓN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repositorio de estudiantes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5778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73152" cy="4526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EXPONE EL DETALLE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GestorEstudiantes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conn: MySqlConnection;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sqlConsulta: String;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obtener(id)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this.conn.query(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this.sqlConsulta + 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g.conn.cerrar();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g.sqlConsulta = 'SELECT *...';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5577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conoce que hay MySQL y manipula SQL. Cambiar a PostgreSQL rompe TODO.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53212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691640"/>
            <a:ext cx="73152" cy="45262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OCULTA LA DECISIÓN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24028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RepoEstudiantes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obtener(id): Estudiante;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guardar(e: Estudiante);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RepoMySql implements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RepoEstudiantes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detalles privados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conn, sql;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obtener(id)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repo.obtener(123);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5577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ignora la BD. Mañana RepoMySql se reemplaza por RepoPostgres sin tocar al cliente.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principios trabajando juntos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principios no compiten: se refuerzan mutuamente para producir módulos verdaderamente modulares.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468880" cy="22860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3566160"/>
            <a:ext cx="54864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Defino el QUÉ sin detalles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154680" y="3200400"/>
            <a:ext cx="274320" cy="274320"/>
          </a:xfrm>
          <a:prstGeom prst="rtTriangl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194560"/>
            <a:ext cx="2468880" cy="2286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947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OCULTAMIENTO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17720" y="3566160"/>
            <a:ext cx="54864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Encierro las decisiones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172200" y="3200400"/>
            <a:ext cx="274320" cy="274320"/>
          </a:xfrm>
          <a:prstGeom prst="rtTriangl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194560"/>
            <a:ext cx="2468880" cy="2286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35240" y="3566160"/>
            <a:ext cx="54864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responsabilidad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189720" y="3200400"/>
            <a:ext cx="274320" cy="274320"/>
          </a:xfrm>
          <a:prstGeom prst="rtTriangl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2194560"/>
            <a:ext cx="2468880" cy="22860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82980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652760" y="3566160"/>
            <a:ext cx="54864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dependencia externa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937760"/>
            <a:ext cx="11155680" cy="1325880"/>
          </a:xfrm>
          <a:prstGeom prst="rect">
            <a:avLst/>
          </a:prstGeom>
          <a:solidFill>
            <a:srgbClr val="0F2A47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5440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pequeños, claros, reemplazables y testeables — la base sobre la que se aplican luego los patrones de diseño y las arquitecturas.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Biblioteca Universitaria — UNTRM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Apliquemos los cuatro principios al diseño de un módulo de préstamos.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11680"/>
            <a:ext cx="73152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FISME requiere gestionar préstamos de libros. Necesita registrar usuarios, controlar inventario, calcular multas y enviar recordatorios.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274320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108960"/>
            <a:ext cx="73152" cy="306324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457200" cy="0"/>
          </a:xfrm>
          <a:prstGeom prst="line">
            <a:avLst/>
          </a:prstGeom>
          <a:noFill/>
          <a:ln w="25400">
            <a:solidFill>
              <a:srgbClr val="0F4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976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responsabilidad: registrar y devolver libros. NO mezcla notificaciones.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10712" y="3108960"/>
            <a:ext cx="274320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0712" y="3108960"/>
            <a:ext cx="73152" cy="306324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93592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93592" y="4160520"/>
            <a:ext cx="457200" cy="0"/>
          </a:xfrm>
          <a:prstGeom prst="line">
            <a:avLst/>
          </a:prstGeom>
          <a:noFill/>
          <a:ln w="25400">
            <a:solidFill>
              <a:srgbClr val="328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42976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correo por parámetro. NO conoce de dónde viene ni cómo se obtuvo.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18504" y="3108960"/>
            <a:ext cx="274320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18504" y="3108960"/>
            <a:ext cx="73152" cy="30632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01384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01384" y="4160520"/>
            <a:ext cx="457200" cy="0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1384" y="42976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buscar(criterio) y reservar(libro). Esconde si la BD es SQL o NoSQL.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26296" y="3108960"/>
            <a:ext cx="274320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226296" y="3108960"/>
            <a:ext cx="73152" cy="3063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9176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OCULTAMIENTO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09176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CalculadorMultas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409176" y="4160520"/>
            <a:ext cx="4572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09176" y="42976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 multas vive dentro. Cambiar de S/.0.50 a S/.0.80 no afecta a nadie.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es pequeño, claro, sustituible y testeable de forma aislada.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LA SESIÓN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de gestión (evaluación formativa)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UNTRM · FISME · Ingeniería del Software I · 2026-I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1155680" cy="777240"/>
          </a:xfrm>
          <a:prstGeom prst="rect">
            <a:avLst/>
          </a:prstGeom>
          <a:solidFill>
            <a:srgbClr val="0F4C75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 · 15 minutos · Respuestas en el aula virtual al cierre de la sesión.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11155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606040"/>
            <a:ext cx="73152" cy="685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70632"/>
            <a:ext cx="365760" cy="36576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clase llamada UtilidadesGenerales contiene métodos para validar emails, calcular impuestos y enviar SMS. ¿Qué tipo de cohesión presenta? Justifique.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11155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83280"/>
            <a:ext cx="73152" cy="685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47872"/>
            <a:ext cx="365760" cy="36576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módulos comparten una variable global de configuración que ambos modifican. ¿Qué tipo de acoplamiento existe entre ellos y qué riesgo introduce?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11155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60520"/>
            <a:ext cx="73152" cy="685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325112"/>
            <a:ext cx="365760" cy="36576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206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con un ejemplo propio la diferencia entre encapsulamiento (mecanismo) y ocultamiento de información (principio).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937760"/>
            <a:ext cx="11155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937760"/>
            <a:ext cx="73152" cy="685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102352"/>
            <a:ext cx="365760" cy="36576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983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Diseñe la interfaz pública (firmas) de un módulo CalculadorPlanilla que oculte la implementación de cálculos de AFP, ONP y EsSalud.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715000"/>
            <a:ext cx="111556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5715000"/>
            <a:ext cx="73152" cy="685800"/>
          </a:xfrm>
          <a:prstGeom prst="rect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879592"/>
            <a:ext cx="365760" cy="36576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879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5760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en el caso del Sistema de Biblioteca un caso donde reducir el acoplamiento elevaría la cohesión simultáneamente. Justifique.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SESIÓN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llevamos hoy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97480" cy="146304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 alta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módulo, una responsabilidad.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97480" cy="146304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02152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 bajo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Mínimas y explícitas dependencias.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691640"/>
            <a:ext cx="2697480" cy="146304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64224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64224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qué, ocultar el cómo.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89136" y="1691640"/>
            <a:ext cx="2697480" cy="1463040"/>
          </a:xfrm>
          <a:prstGeom prst="rect">
            <a:avLst/>
          </a:prstGeom>
          <a:solidFill>
            <a:srgbClr val="0F4C75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629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26296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Ocultamiento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26296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 lo que puede cambiar.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BIBLIOGRÁFICAS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1115568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4048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(2011). Ingeniería de software (9.ª ed.). Pearson Educación. Cap. 7: Diseño y arquitectura.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Pressman, R. S. &amp; Maxim, B. R. (2020). Software Engineering: A Practitioner's Approach (9th ed.). McGraw-Hill. Cap. 12: Conceptos de diseño.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Martin, R. C. (2017). Clean Architecture: A Craftsman's Guide to Software Structure and Design. Prentice Hall.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Parnas, D. L. (1972). On the Criteria To Be Used in Decomposing Systems into Modules. Comm. of the ACM, 15(12), 1053-1058.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Larman, C. (2003). UML y patrones: Una introducción al análisis y diseño orientado a objetos. Prentice Hall.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Carlos Luis Lobatón Arenas  ·  UNTRM · FISME · 2026-I  ·  Semana 6 / 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 — Principios de Diseño de Software</dc:title>
  <dc:subject>Ingeniería del Software I — UNTRM 2026-I</dc:subject>
  <dc:creator>Mg. Carlos Luis Lobatón Arenas</dc:creator>
  <cp:lastModifiedBy>Mg. Carlos Luis Lobatón Arenas</cp:lastModifiedBy>
  <cp:revision>1</cp:revision>
  <dcterms:created xsi:type="dcterms:W3CDTF">2026-05-13T15:53:59Z</dcterms:created>
  <dcterms:modified xsi:type="dcterms:W3CDTF">2026-05-13T15:53:59Z</dcterms:modified>
</cp:coreProperties>
</file>